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Montserrat Bold" panose="020B0604020202020204" charset="0"/>
      <p:regular r:id="rId14"/>
    </p:embeddedFont>
    <p:embeddedFont>
      <p:font typeface="Archivo Black" panose="020B0604020202020204" charset="0"/>
      <p:regular r:id="rId15"/>
    </p:embeddedFont>
    <p:embeddedFont>
      <p:font typeface="Montserrat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DM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34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8.sv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12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7.png"/><Relationship Id="rId17" Type="http://schemas.openxmlformats.org/officeDocument/2006/relationships/image" Target="../media/image18.sv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8.sv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12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34867" y="2636771"/>
            <a:ext cx="6532592" cy="5013764"/>
          </a:xfrm>
          <a:custGeom>
            <a:avLst/>
            <a:gdLst/>
            <a:ahLst/>
            <a:cxnLst/>
            <a:rect l="l" t="t" r="r" b="b"/>
            <a:pathLst>
              <a:path w="6532592" h="5013764">
                <a:moveTo>
                  <a:pt x="0" y="0"/>
                </a:moveTo>
                <a:lnTo>
                  <a:pt x="6532592" y="0"/>
                </a:lnTo>
                <a:lnTo>
                  <a:pt x="6532592" y="5013764"/>
                </a:lnTo>
                <a:lnTo>
                  <a:pt x="0" y="5013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62504" y="-2237177"/>
            <a:ext cx="4965068" cy="4114800"/>
          </a:xfrm>
          <a:custGeom>
            <a:avLst/>
            <a:gdLst/>
            <a:ahLst/>
            <a:cxnLst/>
            <a:rect l="l" t="t" r="r" b="b"/>
            <a:pathLst>
              <a:path w="4965068" h="4114800">
                <a:moveTo>
                  <a:pt x="0" y="0"/>
                </a:moveTo>
                <a:lnTo>
                  <a:pt x="4965068" y="0"/>
                </a:lnTo>
                <a:lnTo>
                  <a:pt x="4965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01163" y="8639008"/>
            <a:ext cx="4716103" cy="4114800"/>
          </a:xfrm>
          <a:custGeom>
            <a:avLst/>
            <a:gdLst/>
            <a:ahLst/>
            <a:cxnLst/>
            <a:rect l="l" t="t" r="r" b="b"/>
            <a:pathLst>
              <a:path w="4716103" h="4114800">
                <a:moveTo>
                  <a:pt x="0" y="0"/>
                </a:moveTo>
                <a:lnTo>
                  <a:pt x="4716103" y="0"/>
                </a:lnTo>
                <a:lnTo>
                  <a:pt x="47161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339920" y="8671973"/>
            <a:ext cx="7315200" cy="4081836"/>
          </a:xfrm>
          <a:custGeom>
            <a:avLst/>
            <a:gdLst/>
            <a:ahLst/>
            <a:cxnLst/>
            <a:rect l="l" t="t" r="r" b="b"/>
            <a:pathLst>
              <a:path w="7315200" h="4081836">
                <a:moveTo>
                  <a:pt x="0" y="0"/>
                </a:moveTo>
                <a:lnTo>
                  <a:pt x="7315200" y="0"/>
                </a:lnTo>
                <a:lnTo>
                  <a:pt x="7315200" y="4081835"/>
                </a:lnTo>
                <a:lnTo>
                  <a:pt x="0" y="4081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678338" y="-1487343"/>
            <a:ext cx="7315200" cy="2974686"/>
          </a:xfrm>
          <a:custGeom>
            <a:avLst/>
            <a:gdLst/>
            <a:ahLst/>
            <a:cxnLst/>
            <a:rect l="l" t="t" r="r" b="b"/>
            <a:pathLst>
              <a:path w="7315200" h="2974686">
                <a:moveTo>
                  <a:pt x="0" y="0"/>
                </a:moveTo>
                <a:lnTo>
                  <a:pt x="7315200" y="0"/>
                </a:lnTo>
                <a:lnTo>
                  <a:pt x="7315200" y="2974686"/>
                </a:lnTo>
                <a:lnTo>
                  <a:pt x="0" y="29746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726708" y="8802907"/>
            <a:ext cx="5229248" cy="2167761"/>
          </a:xfrm>
          <a:custGeom>
            <a:avLst/>
            <a:gdLst/>
            <a:ahLst/>
            <a:cxnLst/>
            <a:rect l="l" t="t" r="r" b="b"/>
            <a:pathLst>
              <a:path w="5229248" h="2167761">
                <a:moveTo>
                  <a:pt x="0" y="0"/>
                </a:moveTo>
                <a:lnTo>
                  <a:pt x="5229248" y="0"/>
                </a:lnTo>
                <a:lnTo>
                  <a:pt x="5229248" y="2167761"/>
                </a:lnTo>
                <a:lnTo>
                  <a:pt x="0" y="21677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109069" y="-2425955"/>
            <a:ext cx="4034931" cy="3308644"/>
          </a:xfrm>
          <a:custGeom>
            <a:avLst/>
            <a:gdLst/>
            <a:ahLst/>
            <a:cxnLst/>
            <a:rect l="l" t="t" r="r" b="b"/>
            <a:pathLst>
              <a:path w="4034931" h="3308644">
                <a:moveTo>
                  <a:pt x="0" y="0"/>
                </a:moveTo>
                <a:lnTo>
                  <a:pt x="4034931" y="0"/>
                </a:lnTo>
                <a:lnTo>
                  <a:pt x="4034931" y="3308644"/>
                </a:lnTo>
                <a:lnTo>
                  <a:pt x="0" y="33086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77083" y="2529807"/>
            <a:ext cx="9757784" cy="2358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6"/>
              </a:lnSpc>
            </a:pPr>
            <a:r>
              <a:rPr lang="en-US" sz="5900" spc="-159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Air Pollution Detection Using InceptionV3 (Transfer Learning)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659214" y="-570057"/>
            <a:ext cx="3987615" cy="4114800"/>
          </a:xfrm>
          <a:custGeom>
            <a:avLst/>
            <a:gdLst/>
            <a:ahLst/>
            <a:cxnLst/>
            <a:rect l="l" t="t" r="r" b="b"/>
            <a:pathLst>
              <a:path w="3987615" h="4114800">
                <a:moveTo>
                  <a:pt x="0" y="0"/>
                </a:moveTo>
                <a:lnTo>
                  <a:pt x="3987616" y="0"/>
                </a:lnTo>
                <a:lnTo>
                  <a:pt x="3987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685399" y="9258300"/>
            <a:ext cx="3331190" cy="2870880"/>
          </a:xfrm>
          <a:custGeom>
            <a:avLst/>
            <a:gdLst/>
            <a:ahLst/>
            <a:cxnLst/>
            <a:rect l="l" t="t" r="r" b="b"/>
            <a:pathLst>
              <a:path w="3331190" h="2870880">
                <a:moveTo>
                  <a:pt x="0" y="0"/>
                </a:moveTo>
                <a:lnTo>
                  <a:pt x="3331190" y="0"/>
                </a:lnTo>
                <a:lnTo>
                  <a:pt x="3331190" y="2870880"/>
                </a:lnTo>
                <a:lnTo>
                  <a:pt x="0" y="287088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435206" y="5202630"/>
            <a:ext cx="9148554" cy="35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2200" spc="-59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Leveraging Machine Learning for Environmental Monitoring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0030" y="7200901"/>
            <a:ext cx="526536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5"/>
              </a:lnSpc>
            </a:pPr>
            <a:r>
              <a:rPr lang="en-US" sz="2254" spc="-60" dirty="0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Presented by </a:t>
            </a:r>
            <a:r>
              <a:rPr lang="en-US" sz="2254" spc="-60" dirty="0" smtClean="0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: MANVI BAMAL &amp; SHAMBHAVI KUMARI</a:t>
            </a:r>
            <a:endParaRPr lang="en-US" sz="2254" spc="-60" dirty="0">
              <a:solidFill>
                <a:srgbClr val="4C81CB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l">
              <a:lnSpc>
                <a:spcPts val="2795"/>
              </a:lnSpc>
            </a:pPr>
            <a:endParaRPr lang="en-US" sz="2254" spc="-60" dirty="0">
              <a:solidFill>
                <a:srgbClr val="4C81CB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53103" y="-1689906"/>
            <a:ext cx="7315200" cy="3072384"/>
          </a:xfrm>
          <a:custGeom>
            <a:avLst/>
            <a:gdLst/>
            <a:ahLst/>
            <a:cxnLst/>
            <a:rect l="l" t="t" r="r" b="b"/>
            <a:pathLst>
              <a:path w="7315200" h="3072384">
                <a:moveTo>
                  <a:pt x="0" y="0"/>
                </a:moveTo>
                <a:lnTo>
                  <a:pt x="7315200" y="0"/>
                </a:lnTo>
                <a:lnTo>
                  <a:pt x="7315200" y="3072384"/>
                </a:lnTo>
                <a:lnTo>
                  <a:pt x="0" y="307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613338" y="8531405"/>
            <a:ext cx="7315200" cy="3072384"/>
          </a:xfrm>
          <a:custGeom>
            <a:avLst/>
            <a:gdLst/>
            <a:ahLst/>
            <a:cxnLst/>
            <a:rect l="l" t="t" r="r" b="b"/>
            <a:pathLst>
              <a:path w="7315200" h="3072384">
                <a:moveTo>
                  <a:pt x="0" y="0"/>
                </a:moveTo>
                <a:lnTo>
                  <a:pt x="7315200" y="0"/>
                </a:lnTo>
                <a:lnTo>
                  <a:pt x="7315200" y="3072384"/>
                </a:lnTo>
                <a:lnTo>
                  <a:pt x="0" y="307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772900" y="1033989"/>
            <a:ext cx="5486400" cy="8229600"/>
            <a:chOff x="0" y="0"/>
            <a:chExt cx="6350000" cy="952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-7371" r="-17834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52083" y="2502434"/>
            <a:ext cx="10280449" cy="1894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spc="-188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Air Pollution Detection Matters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133" y="4688414"/>
            <a:ext cx="7363237" cy="825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Air pollution is a global concern, causing health risks and environmental degradation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33" y="5681366"/>
            <a:ext cx="7363237" cy="825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Traditional detection methods are costly and require extensive infrastructure.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5844" y="7334243"/>
            <a:ext cx="9457359" cy="64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 a cost-effective, accurate, and scalable solution to detect pollution levels using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5482461" y="-2028581"/>
            <a:ext cx="7323078" cy="14344163"/>
            <a:chOff x="0" y="0"/>
            <a:chExt cx="2509427" cy="4915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427" cy="4915369"/>
            </a:xfrm>
            <a:custGeom>
              <a:avLst/>
              <a:gdLst/>
              <a:ahLst/>
              <a:cxnLst/>
              <a:rect l="l" t="t" r="r" b="b"/>
              <a:pathLst>
                <a:path w="2509427" h="4915369">
                  <a:moveTo>
                    <a:pt x="7400" y="0"/>
                  </a:moveTo>
                  <a:lnTo>
                    <a:pt x="2502026" y="0"/>
                  </a:lnTo>
                  <a:cubicBezTo>
                    <a:pt x="2503989" y="0"/>
                    <a:pt x="2505871" y="780"/>
                    <a:pt x="2507259" y="2168"/>
                  </a:cubicBezTo>
                  <a:cubicBezTo>
                    <a:pt x="2508647" y="3555"/>
                    <a:pt x="2509427" y="5438"/>
                    <a:pt x="2509427" y="7400"/>
                  </a:cubicBezTo>
                  <a:lnTo>
                    <a:pt x="2509427" y="4907968"/>
                  </a:lnTo>
                  <a:cubicBezTo>
                    <a:pt x="2509427" y="4909931"/>
                    <a:pt x="2508647" y="4911813"/>
                    <a:pt x="2507259" y="4913201"/>
                  </a:cubicBezTo>
                  <a:cubicBezTo>
                    <a:pt x="2505871" y="4914589"/>
                    <a:pt x="2503989" y="4915369"/>
                    <a:pt x="2502026" y="4915369"/>
                  </a:cubicBezTo>
                  <a:lnTo>
                    <a:pt x="7400" y="4915369"/>
                  </a:lnTo>
                  <a:cubicBezTo>
                    <a:pt x="5438" y="4915369"/>
                    <a:pt x="3555" y="4914589"/>
                    <a:pt x="2168" y="4913201"/>
                  </a:cubicBezTo>
                  <a:cubicBezTo>
                    <a:pt x="780" y="4911813"/>
                    <a:pt x="0" y="4909931"/>
                    <a:pt x="0" y="4907968"/>
                  </a:cubicBezTo>
                  <a:lnTo>
                    <a:pt x="0" y="7400"/>
                  </a:lnTo>
                  <a:cubicBezTo>
                    <a:pt x="0" y="5438"/>
                    <a:pt x="780" y="3555"/>
                    <a:pt x="2168" y="2168"/>
                  </a:cubicBezTo>
                  <a:cubicBezTo>
                    <a:pt x="3555" y="780"/>
                    <a:pt x="5438" y="0"/>
                    <a:pt x="7400" y="0"/>
                  </a:cubicBezTo>
                  <a:close/>
                </a:path>
              </a:pathLst>
            </a:custGeom>
            <a:solidFill>
              <a:srgbClr val="4C81CB"/>
            </a:solidFill>
            <a:ln w="9525" cap="sq">
              <a:solidFill>
                <a:srgbClr val="47474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509427" cy="4934418"/>
            </a:xfrm>
            <a:prstGeom prst="rect">
              <a:avLst/>
            </a:prstGeom>
          </p:spPr>
          <p:txBody>
            <a:bodyPr lIns="26060" tIns="26060" rIns="26060" bIns="26060" rtlCol="0" anchor="ctr"/>
            <a:lstStyle/>
            <a:p>
              <a:pPr marL="0" lvl="0" indent="0" algn="ctr">
                <a:lnSpc>
                  <a:spcPts val="128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78432" y="2728775"/>
            <a:ext cx="12131135" cy="97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999" spc="-18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Goals of the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75319" y="4683125"/>
            <a:ext cx="10537362" cy="825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Utilize transfer learning with the InceptionV3 model to classify air pollution levels.</a:t>
            </a:r>
          </a:p>
        </p:txBody>
      </p:sp>
      <p:sp>
        <p:nvSpPr>
          <p:cNvPr id="7" name="Freeform 7"/>
          <p:cNvSpPr/>
          <p:nvPr/>
        </p:nvSpPr>
        <p:spPr>
          <a:xfrm>
            <a:off x="-1062504" y="-2237177"/>
            <a:ext cx="4965068" cy="4114800"/>
          </a:xfrm>
          <a:custGeom>
            <a:avLst/>
            <a:gdLst/>
            <a:ahLst/>
            <a:cxnLst/>
            <a:rect l="l" t="t" r="r" b="b"/>
            <a:pathLst>
              <a:path w="4965068" h="4114800">
                <a:moveTo>
                  <a:pt x="0" y="0"/>
                </a:moveTo>
                <a:lnTo>
                  <a:pt x="4965068" y="0"/>
                </a:lnTo>
                <a:lnTo>
                  <a:pt x="4965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339920" y="8671973"/>
            <a:ext cx="7315200" cy="4081836"/>
          </a:xfrm>
          <a:custGeom>
            <a:avLst/>
            <a:gdLst/>
            <a:ahLst/>
            <a:cxnLst/>
            <a:rect l="l" t="t" r="r" b="b"/>
            <a:pathLst>
              <a:path w="7315200" h="4081836">
                <a:moveTo>
                  <a:pt x="0" y="0"/>
                </a:moveTo>
                <a:lnTo>
                  <a:pt x="7315200" y="0"/>
                </a:lnTo>
                <a:lnTo>
                  <a:pt x="7315200" y="4081835"/>
                </a:lnTo>
                <a:lnTo>
                  <a:pt x="0" y="40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458438" y="8324494"/>
            <a:ext cx="5715287" cy="2369246"/>
          </a:xfrm>
          <a:custGeom>
            <a:avLst/>
            <a:gdLst/>
            <a:ahLst/>
            <a:cxnLst/>
            <a:rect l="l" t="t" r="r" b="b"/>
            <a:pathLst>
              <a:path w="5715287" h="2369246">
                <a:moveTo>
                  <a:pt x="0" y="0"/>
                </a:moveTo>
                <a:lnTo>
                  <a:pt x="5715287" y="0"/>
                </a:lnTo>
                <a:lnTo>
                  <a:pt x="5715287" y="2369246"/>
                </a:lnTo>
                <a:lnTo>
                  <a:pt x="0" y="2369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09069" y="-2425955"/>
            <a:ext cx="4034931" cy="3308644"/>
          </a:xfrm>
          <a:custGeom>
            <a:avLst/>
            <a:gdLst/>
            <a:ahLst/>
            <a:cxnLst/>
            <a:rect l="l" t="t" r="r" b="b"/>
            <a:pathLst>
              <a:path w="4034931" h="3308644">
                <a:moveTo>
                  <a:pt x="0" y="0"/>
                </a:moveTo>
                <a:lnTo>
                  <a:pt x="4034931" y="0"/>
                </a:lnTo>
                <a:lnTo>
                  <a:pt x="4034931" y="3308644"/>
                </a:lnTo>
                <a:lnTo>
                  <a:pt x="0" y="33086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638339" y="-1551210"/>
            <a:ext cx="3987615" cy="4114800"/>
          </a:xfrm>
          <a:custGeom>
            <a:avLst/>
            <a:gdLst/>
            <a:ahLst/>
            <a:cxnLst/>
            <a:rect l="l" t="t" r="r" b="b"/>
            <a:pathLst>
              <a:path w="3987615" h="4114800">
                <a:moveTo>
                  <a:pt x="0" y="0"/>
                </a:moveTo>
                <a:lnTo>
                  <a:pt x="3987615" y="0"/>
                </a:lnTo>
                <a:lnTo>
                  <a:pt x="39876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670609" y="9258300"/>
            <a:ext cx="3331190" cy="2870880"/>
          </a:xfrm>
          <a:custGeom>
            <a:avLst/>
            <a:gdLst/>
            <a:ahLst/>
            <a:cxnLst/>
            <a:rect l="l" t="t" r="r" b="b"/>
            <a:pathLst>
              <a:path w="3331190" h="2870880">
                <a:moveTo>
                  <a:pt x="0" y="0"/>
                </a:moveTo>
                <a:lnTo>
                  <a:pt x="3331190" y="0"/>
                </a:lnTo>
                <a:lnTo>
                  <a:pt x="3331190" y="2870880"/>
                </a:lnTo>
                <a:lnTo>
                  <a:pt x="0" y="28708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875319" y="5766030"/>
            <a:ext cx="10537362" cy="39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Train a robust model using labeled image datasets.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02564" y="6420079"/>
            <a:ext cx="10537362" cy="39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Deploy the model for real-time predictions with high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5482461" y="-2028581"/>
            <a:ext cx="7323078" cy="14344163"/>
            <a:chOff x="0" y="0"/>
            <a:chExt cx="2509427" cy="4915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427" cy="4915369"/>
            </a:xfrm>
            <a:custGeom>
              <a:avLst/>
              <a:gdLst/>
              <a:ahLst/>
              <a:cxnLst/>
              <a:rect l="l" t="t" r="r" b="b"/>
              <a:pathLst>
                <a:path w="2509427" h="4915369">
                  <a:moveTo>
                    <a:pt x="7400" y="0"/>
                  </a:moveTo>
                  <a:lnTo>
                    <a:pt x="2502026" y="0"/>
                  </a:lnTo>
                  <a:cubicBezTo>
                    <a:pt x="2503989" y="0"/>
                    <a:pt x="2505871" y="780"/>
                    <a:pt x="2507259" y="2168"/>
                  </a:cubicBezTo>
                  <a:cubicBezTo>
                    <a:pt x="2508647" y="3555"/>
                    <a:pt x="2509427" y="5438"/>
                    <a:pt x="2509427" y="7400"/>
                  </a:cubicBezTo>
                  <a:lnTo>
                    <a:pt x="2509427" y="4907968"/>
                  </a:lnTo>
                  <a:cubicBezTo>
                    <a:pt x="2509427" y="4909931"/>
                    <a:pt x="2508647" y="4911813"/>
                    <a:pt x="2507259" y="4913201"/>
                  </a:cubicBezTo>
                  <a:cubicBezTo>
                    <a:pt x="2505871" y="4914589"/>
                    <a:pt x="2503989" y="4915369"/>
                    <a:pt x="2502026" y="4915369"/>
                  </a:cubicBezTo>
                  <a:lnTo>
                    <a:pt x="7400" y="4915369"/>
                  </a:lnTo>
                  <a:cubicBezTo>
                    <a:pt x="5438" y="4915369"/>
                    <a:pt x="3555" y="4914589"/>
                    <a:pt x="2168" y="4913201"/>
                  </a:cubicBezTo>
                  <a:cubicBezTo>
                    <a:pt x="780" y="4911813"/>
                    <a:pt x="0" y="4909931"/>
                    <a:pt x="0" y="4907968"/>
                  </a:cubicBezTo>
                  <a:lnTo>
                    <a:pt x="0" y="7400"/>
                  </a:lnTo>
                  <a:cubicBezTo>
                    <a:pt x="0" y="5438"/>
                    <a:pt x="780" y="3555"/>
                    <a:pt x="2168" y="2168"/>
                  </a:cubicBezTo>
                  <a:cubicBezTo>
                    <a:pt x="3555" y="780"/>
                    <a:pt x="5438" y="0"/>
                    <a:pt x="7400" y="0"/>
                  </a:cubicBezTo>
                  <a:close/>
                </a:path>
              </a:pathLst>
            </a:custGeom>
            <a:solidFill>
              <a:srgbClr val="B2E6F2"/>
            </a:solidFill>
            <a:ln w="9525" cap="sq">
              <a:solidFill>
                <a:srgbClr val="47474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509427" cy="4934418"/>
            </a:xfrm>
            <a:prstGeom prst="rect">
              <a:avLst/>
            </a:prstGeom>
          </p:spPr>
          <p:txBody>
            <a:bodyPr lIns="26060" tIns="26060" rIns="26060" bIns="26060" rtlCol="0" anchor="ctr"/>
            <a:lstStyle/>
            <a:p>
              <a:pPr marL="0" lvl="0" indent="0" algn="ctr">
                <a:lnSpc>
                  <a:spcPts val="128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436257" y="7594293"/>
            <a:ext cx="8432325" cy="3731304"/>
          </a:xfrm>
          <a:custGeom>
            <a:avLst/>
            <a:gdLst/>
            <a:ahLst/>
            <a:cxnLst/>
            <a:rect l="l" t="t" r="r" b="b"/>
            <a:pathLst>
              <a:path w="8432325" h="3731304">
                <a:moveTo>
                  <a:pt x="0" y="0"/>
                </a:moveTo>
                <a:lnTo>
                  <a:pt x="8432324" y="0"/>
                </a:lnTo>
                <a:lnTo>
                  <a:pt x="8432324" y="3731304"/>
                </a:lnTo>
                <a:lnTo>
                  <a:pt x="0" y="3731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64415" y="2154307"/>
            <a:ext cx="11959171" cy="97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999" spc="-18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91605" y="3799955"/>
            <a:ext cx="2057400" cy="390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00"/>
              </a:lnSpc>
            </a:pPr>
            <a:r>
              <a:rPr lang="en-US" sz="20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Dataset Size: </a:t>
            </a:r>
            <a:endParaRPr lang="en-US" sz="2000" b="1" dirty="0" smtClea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64845" y="10031096"/>
            <a:ext cx="5799139" cy="25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600" b="1">
                <a:solidFill>
                  <a:srgbClr val="3C548B"/>
                </a:solidFill>
                <a:latin typeface="DM Sans Bold"/>
                <a:ea typeface="DM Sans Bold"/>
                <a:cs typeface="DM Sans Bold"/>
                <a:sym typeface="DM Sans Bold"/>
              </a:rPr>
              <a:t>Source: Dummy Air Pollution Dataset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35692" y="7814442"/>
            <a:ext cx="6150941" cy="660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Structure: Images labeled into categories such as "Low Pollution," "Moderate Pollution," and "High Pollution."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797567"/>
            <a:ext cx="7848600" cy="18248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5923935"/>
            <a:ext cx="9830727" cy="1692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2450" y="625514"/>
            <a:ext cx="14365084" cy="329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600"/>
              </a:lnSpc>
              <a:spcBef>
                <a:spcPct val="0"/>
              </a:spcBef>
            </a:pPr>
            <a:r>
              <a:rPr lang="en-US" sz="20000" spc="-540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 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2564" y="3485029"/>
            <a:ext cx="6378302" cy="610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1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Preprocessing:</a:t>
            </a:r>
          </a:p>
          <a:p>
            <a:pPr algn="just">
              <a:lnSpc>
                <a:spcPts val="2409"/>
              </a:lnSpc>
            </a:pPr>
            <a:endParaRPr lang="en-US" sz="21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2409"/>
              </a:lnSpc>
            </a:pPr>
            <a:endParaRPr lang="en-US" sz="21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2409"/>
              </a:lnSpc>
            </a:pPr>
            <a:endParaRPr lang="en-US" sz="21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2409"/>
              </a:lnSpc>
            </a:pPr>
            <a:r>
              <a:rPr lang="en-US" sz="15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Applied normalization and augmentation techniques (e.g., shear, zoom, flip).</a:t>
            </a:r>
          </a:p>
          <a:p>
            <a:pPr algn="just">
              <a:lnSpc>
                <a:spcPts val="2409"/>
              </a:lnSpc>
            </a:pPr>
            <a:endParaRPr lang="en-US" sz="15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184"/>
              </a:lnSpc>
            </a:pPr>
            <a:r>
              <a:rPr lang="en-US" sz="20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Architecture:</a:t>
            </a:r>
          </a:p>
          <a:p>
            <a:pPr algn="just">
              <a:lnSpc>
                <a:spcPts val="2409"/>
              </a:lnSpc>
            </a:pPr>
            <a:endParaRPr lang="en-US" sz="20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2409"/>
              </a:lnSpc>
            </a:pPr>
            <a:r>
              <a:rPr lang="en-US" sz="15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Used InceptionV3 as the base model with pre-trained ImageNet weights.</a:t>
            </a:r>
          </a:p>
          <a:p>
            <a:pPr algn="just">
              <a:lnSpc>
                <a:spcPts val="2409"/>
              </a:lnSpc>
            </a:pPr>
            <a:endParaRPr lang="en-US" sz="15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2409"/>
              </a:lnSpc>
            </a:pPr>
            <a:r>
              <a:rPr lang="en-US" sz="15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Added custom dense layers for classification.</a:t>
            </a:r>
          </a:p>
          <a:p>
            <a:pPr algn="just">
              <a:lnSpc>
                <a:spcPts val="2409"/>
              </a:lnSpc>
            </a:pPr>
            <a:endParaRPr lang="en-US" sz="15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339"/>
              </a:lnSpc>
            </a:pPr>
            <a:r>
              <a:rPr lang="en-US" sz="21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 layer: </a:t>
            </a:r>
          </a:p>
          <a:p>
            <a:pPr algn="just">
              <a:lnSpc>
                <a:spcPts val="2409"/>
              </a:lnSpc>
            </a:pPr>
            <a:endParaRPr lang="en-US" sz="21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2409"/>
              </a:lnSpc>
            </a:pPr>
            <a:r>
              <a:rPr lang="en-US" sz="15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Softmax activation for multi-class classification.</a:t>
            </a:r>
          </a:p>
          <a:p>
            <a:pPr algn="just">
              <a:lnSpc>
                <a:spcPts val="2409"/>
              </a:lnSpc>
            </a:pPr>
            <a:endParaRPr lang="en-US" sz="15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409"/>
              </a:lnSpc>
            </a:pPr>
            <a:endParaRPr lang="en-US" sz="15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062504" y="-2237177"/>
            <a:ext cx="4965068" cy="4114800"/>
          </a:xfrm>
          <a:custGeom>
            <a:avLst/>
            <a:gdLst/>
            <a:ahLst/>
            <a:cxnLst/>
            <a:rect l="l" t="t" r="r" b="b"/>
            <a:pathLst>
              <a:path w="4965068" h="4114800">
                <a:moveTo>
                  <a:pt x="0" y="0"/>
                </a:moveTo>
                <a:lnTo>
                  <a:pt x="4965068" y="0"/>
                </a:lnTo>
                <a:lnTo>
                  <a:pt x="4965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01163" y="8779723"/>
            <a:ext cx="4716103" cy="4114800"/>
          </a:xfrm>
          <a:custGeom>
            <a:avLst/>
            <a:gdLst/>
            <a:ahLst/>
            <a:cxnLst/>
            <a:rect l="l" t="t" r="r" b="b"/>
            <a:pathLst>
              <a:path w="4716103" h="4114800">
                <a:moveTo>
                  <a:pt x="0" y="0"/>
                </a:moveTo>
                <a:lnTo>
                  <a:pt x="4716103" y="0"/>
                </a:lnTo>
                <a:lnTo>
                  <a:pt x="47161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344176" y="8929750"/>
            <a:ext cx="7315200" cy="4081836"/>
          </a:xfrm>
          <a:custGeom>
            <a:avLst/>
            <a:gdLst/>
            <a:ahLst/>
            <a:cxnLst/>
            <a:rect l="l" t="t" r="r" b="b"/>
            <a:pathLst>
              <a:path w="7315200" h="4081836">
                <a:moveTo>
                  <a:pt x="0" y="0"/>
                </a:moveTo>
                <a:lnTo>
                  <a:pt x="7315200" y="0"/>
                </a:lnTo>
                <a:lnTo>
                  <a:pt x="7315200" y="4081836"/>
                </a:lnTo>
                <a:lnTo>
                  <a:pt x="0" y="40818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78338" y="-1889344"/>
            <a:ext cx="7315200" cy="2974686"/>
          </a:xfrm>
          <a:custGeom>
            <a:avLst/>
            <a:gdLst/>
            <a:ahLst/>
            <a:cxnLst/>
            <a:rect l="l" t="t" r="r" b="b"/>
            <a:pathLst>
              <a:path w="7315200" h="2974686">
                <a:moveTo>
                  <a:pt x="0" y="0"/>
                </a:moveTo>
                <a:lnTo>
                  <a:pt x="7315200" y="0"/>
                </a:lnTo>
                <a:lnTo>
                  <a:pt x="7315200" y="2974686"/>
                </a:lnTo>
                <a:lnTo>
                  <a:pt x="0" y="2974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654671" y="9203119"/>
            <a:ext cx="5229248" cy="2167761"/>
          </a:xfrm>
          <a:custGeom>
            <a:avLst/>
            <a:gdLst/>
            <a:ahLst/>
            <a:cxnLst/>
            <a:rect l="l" t="t" r="r" b="b"/>
            <a:pathLst>
              <a:path w="5229248" h="2167761">
                <a:moveTo>
                  <a:pt x="0" y="0"/>
                </a:moveTo>
                <a:lnTo>
                  <a:pt x="5229249" y="0"/>
                </a:lnTo>
                <a:lnTo>
                  <a:pt x="5229249" y="2167762"/>
                </a:lnTo>
                <a:lnTo>
                  <a:pt x="0" y="21677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109069" y="-2425955"/>
            <a:ext cx="4034931" cy="3308644"/>
          </a:xfrm>
          <a:custGeom>
            <a:avLst/>
            <a:gdLst/>
            <a:ahLst/>
            <a:cxnLst/>
            <a:rect l="l" t="t" r="r" b="b"/>
            <a:pathLst>
              <a:path w="4034931" h="3308644">
                <a:moveTo>
                  <a:pt x="0" y="0"/>
                </a:moveTo>
                <a:lnTo>
                  <a:pt x="4034931" y="0"/>
                </a:lnTo>
                <a:lnTo>
                  <a:pt x="4034931" y="3308644"/>
                </a:lnTo>
                <a:lnTo>
                  <a:pt x="0" y="33086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023458" y="-1028700"/>
            <a:ext cx="3987615" cy="4114800"/>
          </a:xfrm>
          <a:custGeom>
            <a:avLst/>
            <a:gdLst/>
            <a:ahLst/>
            <a:cxnLst/>
            <a:rect l="l" t="t" r="r" b="b"/>
            <a:pathLst>
              <a:path w="3987615" h="4114800">
                <a:moveTo>
                  <a:pt x="0" y="0"/>
                </a:moveTo>
                <a:lnTo>
                  <a:pt x="3987616" y="0"/>
                </a:lnTo>
                <a:lnTo>
                  <a:pt x="3987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012742" y="9401683"/>
            <a:ext cx="3331190" cy="2870880"/>
          </a:xfrm>
          <a:custGeom>
            <a:avLst/>
            <a:gdLst/>
            <a:ahLst/>
            <a:cxnLst/>
            <a:rect l="l" t="t" r="r" b="b"/>
            <a:pathLst>
              <a:path w="3331190" h="2870880">
                <a:moveTo>
                  <a:pt x="0" y="0"/>
                </a:moveTo>
                <a:lnTo>
                  <a:pt x="3331191" y="0"/>
                </a:lnTo>
                <a:lnTo>
                  <a:pt x="3331191" y="2870880"/>
                </a:lnTo>
                <a:lnTo>
                  <a:pt x="0" y="28708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421380" y="3768342"/>
            <a:ext cx="6378302" cy="543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sz="20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Training:</a:t>
            </a:r>
          </a:p>
          <a:p>
            <a:pPr algn="ctr">
              <a:lnSpc>
                <a:spcPts val="2409"/>
              </a:lnSpc>
            </a:pPr>
            <a:endParaRPr lang="en-US" sz="20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409"/>
              </a:lnSpc>
            </a:pPr>
            <a:r>
              <a:rPr lang="en-US" sz="15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Compiled the model with Adam optimizer.</a:t>
            </a:r>
          </a:p>
          <a:p>
            <a:pPr algn="ctr">
              <a:lnSpc>
                <a:spcPts val="2409"/>
              </a:lnSpc>
            </a:pPr>
            <a:endParaRPr lang="en-US" sz="15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184"/>
              </a:lnSpc>
            </a:pPr>
            <a:r>
              <a:rPr lang="en-US" sz="20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Loss function:</a:t>
            </a:r>
          </a:p>
          <a:p>
            <a:pPr algn="ctr">
              <a:lnSpc>
                <a:spcPts val="2409"/>
              </a:lnSpc>
            </a:pPr>
            <a:r>
              <a:rPr lang="en-US" sz="15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Categorical Crossentropy.</a:t>
            </a:r>
          </a:p>
          <a:p>
            <a:pPr algn="ctr">
              <a:lnSpc>
                <a:spcPts val="2409"/>
              </a:lnSpc>
            </a:pPr>
            <a:endParaRPr lang="en-US" sz="15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184"/>
              </a:lnSpc>
            </a:pPr>
            <a:r>
              <a:rPr lang="en-US" sz="20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Metrics: </a:t>
            </a:r>
          </a:p>
          <a:p>
            <a:pPr algn="ctr">
              <a:lnSpc>
                <a:spcPts val="2409"/>
              </a:lnSpc>
            </a:pPr>
            <a:r>
              <a:rPr lang="en-US" sz="15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</a:t>
            </a:r>
          </a:p>
          <a:p>
            <a:pPr algn="ctr">
              <a:lnSpc>
                <a:spcPts val="3184"/>
              </a:lnSpc>
            </a:pPr>
            <a:endParaRPr lang="en-US" sz="15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184"/>
              </a:lnSpc>
            </a:pPr>
            <a:r>
              <a:rPr lang="en-US" sz="20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Evaluation:</a:t>
            </a:r>
          </a:p>
          <a:p>
            <a:pPr algn="ctr">
              <a:lnSpc>
                <a:spcPts val="2409"/>
              </a:lnSpc>
            </a:pPr>
            <a:endParaRPr lang="en-US" sz="20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409"/>
              </a:lnSpc>
            </a:pPr>
            <a:r>
              <a:rPr lang="en-US" sz="15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Validated using unseen test data.</a:t>
            </a:r>
          </a:p>
          <a:p>
            <a:pPr algn="ctr">
              <a:lnSpc>
                <a:spcPts val="2409"/>
              </a:lnSpc>
            </a:pPr>
            <a:endParaRPr lang="en-US" sz="1554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184"/>
              </a:lnSpc>
            </a:pPr>
            <a:r>
              <a:rPr lang="en-US" sz="20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Measured metrics: </a:t>
            </a:r>
          </a:p>
          <a:p>
            <a:pPr algn="ctr">
              <a:lnSpc>
                <a:spcPts val="2409"/>
              </a:lnSpc>
            </a:pPr>
            <a:r>
              <a:rPr lang="en-US" sz="15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Accuracy, precision, recall.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8927" y="1374945"/>
            <a:ext cx="7167811" cy="6988616"/>
          </a:xfrm>
          <a:custGeom>
            <a:avLst/>
            <a:gdLst/>
            <a:ahLst/>
            <a:cxnLst/>
            <a:rect l="l" t="t" r="r" b="b"/>
            <a:pathLst>
              <a:path w="7167811" h="6988616">
                <a:moveTo>
                  <a:pt x="0" y="0"/>
                </a:moveTo>
                <a:lnTo>
                  <a:pt x="7167810" y="0"/>
                </a:lnTo>
                <a:lnTo>
                  <a:pt x="7167810" y="6988616"/>
                </a:lnTo>
                <a:lnTo>
                  <a:pt x="0" y="6988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894667" y="1460670"/>
            <a:ext cx="8364633" cy="158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600" spc="-178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InceptionV3-</a:t>
            </a:r>
          </a:p>
          <a:p>
            <a:pPr algn="l">
              <a:lnSpc>
                <a:spcPts val="5408"/>
              </a:lnSpc>
            </a:pPr>
            <a:r>
              <a:rPr lang="en-US" sz="5200" spc="-140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based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94667" y="3842204"/>
            <a:ext cx="7363237" cy="511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 Model: InceptionV3 (pre-trained on ImageNet).</a:t>
            </a:r>
          </a:p>
          <a:p>
            <a:pPr algn="l">
              <a:lnSpc>
                <a:spcPts val="3400"/>
              </a:lnSpc>
            </a:pPr>
            <a:endParaRPr lang="en-US" sz="2000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 Layers:</a:t>
            </a:r>
          </a:p>
          <a:p>
            <a:pPr algn="l">
              <a:lnSpc>
                <a:spcPts val="3400"/>
              </a:lnSpc>
            </a:pPr>
            <a:endParaRPr lang="en-US" sz="2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Flatten layer to convert feature maps into a vector.</a:t>
            </a:r>
          </a:p>
          <a:p>
            <a:pPr algn="l">
              <a:lnSpc>
                <a:spcPts val="3400"/>
              </a:lnSpc>
            </a:pPr>
            <a:endParaRPr lang="en-US" sz="2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Dense layers for feature learning.</a:t>
            </a:r>
          </a:p>
          <a:p>
            <a:pPr algn="l">
              <a:lnSpc>
                <a:spcPts val="3400"/>
              </a:lnSpc>
            </a:pPr>
            <a:endParaRPr lang="en-US" sz="2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Output layer with softmax activation.</a:t>
            </a:r>
          </a:p>
          <a:p>
            <a:pPr algn="l">
              <a:lnSpc>
                <a:spcPts val="3400"/>
              </a:lnSpc>
            </a:pPr>
            <a:endParaRPr lang="en-US" sz="2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Freezing Weights: Prevented updates to pre-trained layers during initial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5482460" y="-2068890"/>
            <a:ext cx="7323078" cy="14344163"/>
            <a:chOff x="0" y="0"/>
            <a:chExt cx="2509427" cy="4915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427" cy="4915369"/>
            </a:xfrm>
            <a:custGeom>
              <a:avLst/>
              <a:gdLst/>
              <a:ahLst/>
              <a:cxnLst/>
              <a:rect l="l" t="t" r="r" b="b"/>
              <a:pathLst>
                <a:path w="2509427" h="4915369">
                  <a:moveTo>
                    <a:pt x="7400" y="0"/>
                  </a:moveTo>
                  <a:lnTo>
                    <a:pt x="2502026" y="0"/>
                  </a:lnTo>
                  <a:cubicBezTo>
                    <a:pt x="2503989" y="0"/>
                    <a:pt x="2505871" y="780"/>
                    <a:pt x="2507259" y="2168"/>
                  </a:cubicBezTo>
                  <a:cubicBezTo>
                    <a:pt x="2508647" y="3555"/>
                    <a:pt x="2509427" y="5438"/>
                    <a:pt x="2509427" y="7400"/>
                  </a:cubicBezTo>
                  <a:lnTo>
                    <a:pt x="2509427" y="4907968"/>
                  </a:lnTo>
                  <a:cubicBezTo>
                    <a:pt x="2509427" y="4909931"/>
                    <a:pt x="2508647" y="4911813"/>
                    <a:pt x="2507259" y="4913201"/>
                  </a:cubicBezTo>
                  <a:cubicBezTo>
                    <a:pt x="2505871" y="4914589"/>
                    <a:pt x="2503989" y="4915369"/>
                    <a:pt x="2502026" y="4915369"/>
                  </a:cubicBezTo>
                  <a:lnTo>
                    <a:pt x="7400" y="4915369"/>
                  </a:lnTo>
                  <a:cubicBezTo>
                    <a:pt x="5438" y="4915369"/>
                    <a:pt x="3555" y="4914589"/>
                    <a:pt x="2168" y="4913201"/>
                  </a:cubicBezTo>
                  <a:cubicBezTo>
                    <a:pt x="780" y="4911813"/>
                    <a:pt x="0" y="4909931"/>
                    <a:pt x="0" y="4907968"/>
                  </a:cubicBezTo>
                  <a:lnTo>
                    <a:pt x="0" y="7400"/>
                  </a:lnTo>
                  <a:cubicBezTo>
                    <a:pt x="0" y="5438"/>
                    <a:pt x="780" y="3555"/>
                    <a:pt x="2168" y="2168"/>
                  </a:cubicBezTo>
                  <a:cubicBezTo>
                    <a:pt x="3555" y="780"/>
                    <a:pt x="5438" y="0"/>
                    <a:pt x="7400" y="0"/>
                  </a:cubicBezTo>
                  <a:close/>
                </a:path>
              </a:pathLst>
            </a:custGeom>
            <a:solidFill>
              <a:srgbClr val="4C81CB"/>
            </a:solidFill>
            <a:ln w="9525" cap="sq">
              <a:solidFill>
                <a:srgbClr val="47474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509427" cy="4934418"/>
            </a:xfrm>
            <a:prstGeom prst="rect">
              <a:avLst/>
            </a:prstGeom>
          </p:spPr>
          <p:txBody>
            <a:bodyPr lIns="26060" tIns="26060" rIns="26060" bIns="26060" rtlCol="0" anchor="ctr"/>
            <a:lstStyle/>
            <a:p>
              <a:pPr marL="0" lvl="0" indent="0" algn="ctr">
                <a:lnSpc>
                  <a:spcPts val="128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78432" y="2728775"/>
            <a:ext cx="12131135" cy="97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999" spc="-18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Performance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75319" y="4683125"/>
            <a:ext cx="10537362" cy="393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>
              <a:lnSpc>
                <a:spcPts val="34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Accuracy: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N" sz="2000" dirty="0"/>
              <a:t>0.4</a:t>
            </a: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1062504" y="-2237177"/>
            <a:ext cx="4965068" cy="4114800"/>
          </a:xfrm>
          <a:custGeom>
            <a:avLst/>
            <a:gdLst/>
            <a:ahLst/>
            <a:cxnLst/>
            <a:rect l="l" t="t" r="r" b="b"/>
            <a:pathLst>
              <a:path w="4965068" h="4114800">
                <a:moveTo>
                  <a:pt x="0" y="0"/>
                </a:moveTo>
                <a:lnTo>
                  <a:pt x="4965068" y="0"/>
                </a:lnTo>
                <a:lnTo>
                  <a:pt x="4965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339920" y="8671973"/>
            <a:ext cx="7315200" cy="4081836"/>
          </a:xfrm>
          <a:custGeom>
            <a:avLst/>
            <a:gdLst/>
            <a:ahLst/>
            <a:cxnLst/>
            <a:rect l="l" t="t" r="r" b="b"/>
            <a:pathLst>
              <a:path w="7315200" h="4081836">
                <a:moveTo>
                  <a:pt x="0" y="0"/>
                </a:moveTo>
                <a:lnTo>
                  <a:pt x="7315200" y="0"/>
                </a:lnTo>
                <a:lnTo>
                  <a:pt x="7315200" y="4081835"/>
                </a:lnTo>
                <a:lnTo>
                  <a:pt x="0" y="40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458438" y="8324494"/>
            <a:ext cx="5715287" cy="2369246"/>
          </a:xfrm>
          <a:custGeom>
            <a:avLst/>
            <a:gdLst/>
            <a:ahLst/>
            <a:cxnLst/>
            <a:rect l="l" t="t" r="r" b="b"/>
            <a:pathLst>
              <a:path w="5715287" h="2369246">
                <a:moveTo>
                  <a:pt x="0" y="0"/>
                </a:moveTo>
                <a:lnTo>
                  <a:pt x="5715287" y="0"/>
                </a:lnTo>
                <a:lnTo>
                  <a:pt x="5715287" y="2369246"/>
                </a:lnTo>
                <a:lnTo>
                  <a:pt x="0" y="2369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09069" y="-2425955"/>
            <a:ext cx="4034931" cy="3308644"/>
          </a:xfrm>
          <a:custGeom>
            <a:avLst/>
            <a:gdLst/>
            <a:ahLst/>
            <a:cxnLst/>
            <a:rect l="l" t="t" r="r" b="b"/>
            <a:pathLst>
              <a:path w="4034931" h="3308644">
                <a:moveTo>
                  <a:pt x="0" y="0"/>
                </a:moveTo>
                <a:lnTo>
                  <a:pt x="4034931" y="0"/>
                </a:lnTo>
                <a:lnTo>
                  <a:pt x="4034931" y="3308644"/>
                </a:lnTo>
                <a:lnTo>
                  <a:pt x="0" y="33086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638339" y="-1551210"/>
            <a:ext cx="3987615" cy="4114800"/>
          </a:xfrm>
          <a:custGeom>
            <a:avLst/>
            <a:gdLst/>
            <a:ahLst/>
            <a:cxnLst/>
            <a:rect l="l" t="t" r="r" b="b"/>
            <a:pathLst>
              <a:path w="3987615" h="4114800">
                <a:moveTo>
                  <a:pt x="0" y="0"/>
                </a:moveTo>
                <a:lnTo>
                  <a:pt x="3987615" y="0"/>
                </a:lnTo>
                <a:lnTo>
                  <a:pt x="39876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670609" y="9258300"/>
            <a:ext cx="3331190" cy="2870880"/>
          </a:xfrm>
          <a:custGeom>
            <a:avLst/>
            <a:gdLst/>
            <a:ahLst/>
            <a:cxnLst/>
            <a:rect l="l" t="t" r="r" b="b"/>
            <a:pathLst>
              <a:path w="3331190" h="2870880">
                <a:moveTo>
                  <a:pt x="0" y="0"/>
                </a:moveTo>
                <a:lnTo>
                  <a:pt x="3331190" y="0"/>
                </a:lnTo>
                <a:lnTo>
                  <a:pt x="3331190" y="2870880"/>
                </a:lnTo>
                <a:lnTo>
                  <a:pt x="0" y="28708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902564" y="5624408"/>
            <a:ext cx="10537362" cy="393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>
              <a:lnSpc>
                <a:spcPts val="34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Loss: </a:t>
            </a:r>
            <a:r>
              <a:rPr lang="en-IN" sz="2000" dirty="0"/>
              <a:t>0.0006676053162664175</a:t>
            </a: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902564" y="6488302"/>
            <a:ext cx="10537362" cy="393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>
              <a:lnSpc>
                <a:spcPts val="3400"/>
              </a:lnSpc>
              <a:buFont typeface="Arial"/>
              <a:buChar char="•"/>
            </a:pPr>
            <a:r>
              <a:rPr lang="en-US" sz="2000" b="1" dirty="0" smtClean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Metrics (</a:t>
            </a: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recall, and </a:t>
            </a: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F1-score): </a:t>
            </a:r>
            <a:r>
              <a:rPr lang="en-IN" sz="2000" dirty="0" smtClean="0"/>
              <a:t>0.40, 0.40, </a:t>
            </a:r>
            <a:r>
              <a:rPr lang="en-IN" sz="2000" dirty="0"/>
              <a:t>0.40 </a:t>
            </a: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53103" y="-1689906"/>
            <a:ext cx="7315200" cy="3072384"/>
          </a:xfrm>
          <a:custGeom>
            <a:avLst/>
            <a:gdLst/>
            <a:ahLst/>
            <a:cxnLst/>
            <a:rect l="l" t="t" r="r" b="b"/>
            <a:pathLst>
              <a:path w="7315200" h="3072384">
                <a:moveTo>
                  <a:pt x="0" y="0"/>
                </a:moveTo>
                <a:lnTo>
                  <a:pt x="7315200" y="0"/>
                </a:lnTo>
                <a:lnTo>
                  <a:pt x="7315200" y="3072384"/>
                </a:lnTo>
                <a:lnTo>
                  <a:pt x="0" y="307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613338" y="8531405"/>
            <a:ext cx="7315200" cy="3072384"/>
          </a:xfrm>
          <a:custGeom>
            <a:avLst/>
            <a:gdLst/>
            <a:ahLst/>
            <a:cxnLst/>
            <a:rect l="l" t="t" r="r" b="b"/>
            <a:pathLst>
              <a:path w="7315200" h="3072384">
                <a:moveTo>
                  <a:pt x="0" y="0"/>
                </a:moveTo>
                <a:lnTo>
                  <a:pt x="7315200" y="0"/>
                </a:lnTo>
                <a:lnTo>
                  <a:pt x="7315200" y="3072384"/>
                </a:lnTo>
                <a:lnTo>
                  <a:pt x="0" y="307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68303" y="2057400"/>
            <a:ext cx="7838694" cy="8229600"/>
          </a:xfrm>
          <a:custGeom>
            <a:avLst/>
            <a:gdLst/>
            <a:ahLst/>
            <a:cxnLst/>
            <a:rect l="l" t="t" r="r" b="b"/>
            <a:pathLst>
              <a:path w="7838694" h="8229600">
                <a:moveTo>
                  <a:pt x="0" y="0"/>
                </a:moveTo>
                <a:lnTo>
                  <a:pt x="7838694" y="0"/>
                </a:lnTo>
                <a:lnTo>
                  <a:pt x="78386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52083" y="2550059"/>
            <a:ext cx="10280449" cy="1319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3"/>
              </a:lnSpc>
            </a:pPr>
            <a:r>
              <a:rPr lang="en-US" sz="9599" spc="-259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57133" y="4688414"/>
            <a:ext cx="7363237" cy="39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Limited dataset size.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133" y="5236552"/>
            <a:ext cx="7363237" cy="39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Overfitting during training.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33" y="5785826"/>
            <a:ext cx="7363237" cy="39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Hyperparameter tuning for better performance.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7133" y="6335101"/>
            <a:ext cx="7363237" cy="39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Computational resource constraints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19760" y="-985885"/>
            <a:ext cx="7315200" cy="3072384"/>
          </a:xfrm>
          <a:custGeom>
            <a:avLst/>
            <a:gdLst/>
            <a:ahLst/>
            <a:cxnLst/>
            <a:rect l="l" t="t" r="r" b="b"/>
            <a:pathLst>
              <a:path w="7315200" h="3072384">
                <a:moveTo>
                  <a:pt x="0" y="0"/>
                </a:moveTo>
                <a:lnTo>
                  <a:pt x="7315200" y="0"/>
                </a:lnTo>
                <a:lnTo>
                  <a:pt x="7315200" y="3072384"/>
                </a:lnTo>
                <a:lnTo>
                  <a:pt x="0" y="307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84030" y="7970949"/>
            <a:ext cx="8105332" cy="3404239"/>
          </a:xfrm>
          <a:custGeom>
            <a:avLst/>
            <a:gdLst/>
            <a:ahLst/>
            <a:cxnLst/>
            <a:rect l="l" t="t" r="r" b="b"/>
            <a:pathLst>
              <a:path w="8105332" h="3404239">
                <a:moveTo>
                  <a:pt x="0" y="0"/>
                </a:moveTo>
                <a:lnTo>
                  <a:pt x="8105331" y="0"/>
                </a:lnTo>
                <a:lnTo>
                  <a:pt x="8105331" y="3404240"/>
                </a:lnTo>
                <a:lnTo>
                  <a:pt x="0" y="3404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52293" y="3559805"/>
            <a:ext cx="6007007" cy="4114800"/>
          </a:xfrm>
          <a:custGeom>
            <a:avLst/>
            <a:gdLst/>
            <a:ahLst/>
            <a:cxnLst/>
            <a:rect l="l" t="t" r="r" b="b"/>
            <a:pathLst>
              <a:path w="6007007" h="4114800">
                <a:moveTo>
                  <a:pt x="0" y="0"/>
                </a:moveTo>
                <a:lnTo>
                  <a:pt x="6007007" y="0"/>
                </a:lnTo>
                <a:lnTo>
                  <a:pt x="6007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121973"/>
            <a:ext cx="10280449" cy="97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spc="-188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Prediction Samples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716575"/>
            <a:ext cx="9475300" cy="2539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 Image: Display an image from the test dataset.</a:t>
            </a:r>
          </a:p>
          <a:p>
            <a:pPr algn="l">
              <a:lnSpc>
                <a:spcPts val="3400"/>
              </a:lnSpc>
            </a:pPr>
            <a:endParaRPr lang="en-US" sz="2000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Predicted Class: [Predicted pollution level.]</a:t>
            </a:r>
          </a:p>
          <a:p>
            <a:pPr algn="l">
              <a:lnSpc>
                <a:spcPts val="3400"/>
              </a:lnSpc>
            </a:pPr>
            <a:endParaRPr lang="en-US" sz="2000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Include a visualization of actual vs. predicted results (e.g., confusion matrix).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53103" y="-1689906"/>
            <a:ext cx="7315200" cy="3072384"/>
          </a:xfrm>
          <a:custGeom>
            <a:avLst/>
            <a:gdLst/>
            <a:ahLst/>
            <a:cxnLst/>
            <a:rect l="l" t="t" r="r" b="b"/>
            <a:pathLst>
              <a:path w="7315200" h="3072384">
                <a:moveTo>
                  <a:pt x="0" y="0"/>
                </a:moveTo>
                <a:lnTo>
                  <a:pt x="7315200" y="0"/>
                </a:lnTo>
                <a:lnTo>
                  <a:pt x="7315200" y="3072384"/>
                </a:lnTo>
                <a:lnTo>
                  <a:pt x="0" y="307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613338" y="8531405"/>
            <a:ext cx="7315200" cy="3072384"/>
          </a:xfrm>
          <a:custGeom>
            <a:avLst/>
            <a:gdLst/>
            <a:ahLst/>
            <a:cxnLst/>
            <a:rect l="l" t="t" r="r" b="b"/>
            <a:pathLst>
              <a:path w="7315200" h="3072384">
                <a:moveTo>
                  <a:pt x="0" y="0"/>
                </a:moveTo>
                <a:lnTo>
                  <a:pt x="7315200" y="0"/>
                </a:lnTo>
                <a:lnTo>
                  <a:pt x="7315200" y="3072384"/>
                </a:lnTo>
                <a:lnTo>
                  <a:pt x="0" y="307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821582" y="1028700"/>
            <a:ext cx="5486400" cy="8229600"/>
            <a:chOff x="0" y="0"/>
            <a:chExt cx="6350000" cy="952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-88360" r="-4739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557133" y="1985283"/>
            <a:ext cx="8364633" cy="165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6200" spc="-167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 Enhancements and Applications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133" y="4066622"/>
            <a:ext cx="7363237" cy="468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Implementation: 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Deploy the model for live air pollution detection via drone-captured images.</a:t>
            </a:r>
          </a:p>
          <a:p>
            <a:pPr algn="l">
              <a:lnSpc>
                <a:spcPts val="3400"/>
              </a:lnSpc>
            </a:pPr>
            <a:endParaRPr lang="en-US" sz="2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Expansion: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Collect and use larger datasets for improved performance.</a:t>
            </a:r>
          </a:p>
          <a:p>
            <a:pPr algn="l">
              <a:lnSpc>
                <a:spcPts val="3400"/>
              </a:lnSpc>
            </a:pPr>
            <a:endParaRPr lang="en-US" sz="2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IoT Integration: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Combine with sensors for a hybrid detection system.</a:t>
            </a:r>
          </a:p>
          <a:p>
            <a:pPr algn="l">
              <a:lnSpc>
                <a:spcPts val="3400"/>
              </a:lnSpc>
            </a:pPr>
            <a:endParaRPr lang="en-US" sz="2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31802" lvl="1" indent="-215901" algn="l">
              <a:lnSpc>
                <a:spcPts val="3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Broader Use Cases: 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Extend the model to other environmental monitoring tasks (e.g., water pollution).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54381" y="3086100"/>
            <a:ext cx="3219831" cy="4114800"/>
          </a:xfrm>
          <a:custGeom>
            <a:avLst/>
            <a:gdLst/>
            <a:ahLst/>
            <a:cxnLst/>
            <a:rect l="l" t="t" r="r" b="b"/>
            <a:pathLst>
              <a:path w="3219831" h="4114800">
                <a:moveTo>
                  <a:pt x="0" y="0"/>
                </a:moveTo>
                <a:lnTo>
                  <a:pt x="3219831" y="0"/>
                </a:lnTo>
                <a:lnTo>
                  <a:pt x="32198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05435" y="1444362"/>
            <a:ext cx="8250591" cy="105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89"/>
              </a:lnSpc>
            </a:pPr>
            <a:r>
              <a:rPr lang="en-US" sz="6999" spc="-188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99687" y="3711575"/>
            <a:ext cx="9662087" cy="328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5674" lvl="1" indent="-252837" algn="l">
              <a:lnSpc>
                <a:spcPts val="3279"/>
              </a:lnSpc>
              <a:buFont typeface="Arial"/>
              <a:buChar char="•"/>
            </a:pPr>
            <a:r>
              <a:rPr lang="en-US" sz="234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Demonstrated the potential of transfer learning for detecting air pollution.</a:t>
            </a:r>
          </a:p>
          <a:p>
            <a:pPr algn="l">
              <a:lnSpc>
                <a:spcPts val="3279"/>
              </a:lnSpc>
              <a:spcBef>
                <a:spcPct val="0"/>
              </a:spcBef>
            </a:pPr>
            <a:endParaRPr lang="en-US" sz="2342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505674" lvl="1" indent="-252837" algn="l">
              <a:lnSpc>
                <a:spcPts val="3279"/>
              </a:lnSpc>
              <a:buFont typeface="Arial"/>
              <a:buChar char="•"/>
            </a:pPr>
            <a:r>
              <a:rPr lang="en-US" sz="234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Achieved [state your key achievement, e.g., "90% accuracy on the test dataset"].</a:t>
            </a:r>
          </a:p>
          <a:p>
            <a:pPr algn="l">
              <a:lnSpc>
                <a:spcPts val="3279"/>
              </a:lnSpc>
              <a:spcBef>
                <a:spcPct val="0"/>
              </a:spcBef>
            </a:pPr>
            <a:endParaRPr lang="en-US" sz="2342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505674" lvl="1" indent="-252837" algn="l">
              <a:lnSpc>
                <a:spcPts val="3279"/>
              </a:lnSpc>
              <a:buFont typeface="Arial"/>
              <a:buChar char="•"/>
            </a:pPr>
            <a:r>
              <a:rPr lang="en-US" sz="234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further enhancements for scalability and real-world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26708" y="2636618"/>
            <a:ext cx="6532592" cy="5013764"/>
          </a:xfrm>
          <a:custGeom>
            <a:avLst/>
            <a:gdLst/>
            <a:ahLst/>
            <a:cxnLst/>
            <a:rect l="l" t="t" r="r" b="b"/>
            <a:pathLst>
              <a:path w="6532592" h="5013764">
                <a:moveTo>
                  <a:pt x="0" y="0"/>
                </a:moveTo>
                <a:lnTo>
                  <a:pt x="6532592" y="0"/>
                </a:lnTo>
                <a:lnTo>
                  <a:pt x="6532592" y="5013764"/>
                </a:lnTo>
                <a:lnTo>
                  <a:pt x="0" y="5013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3381" y="5959571"/>
            <a:ext cx="3491375" cy="31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</a:pPr>
            <a:r>
              <a:rPr lang="en-US" sz="2301" spc="-62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 very much!</a:t>
            </a:r>
          </a:p>
        </p:txBody>
      </p:sp>
      <p:sp>
        <p:nvSpPr>
          <p:cNvPr id="4" name="Freeform 4"/>
          <p:cNvSpPr/>
          <p:nvPr/>
        </p:nvSpPr>
        <p:spPr>
          <a:xfrm>
            <a:off x="-1062504" y="-2237177"/>
            <a:ext cx="4965068" cy="4114800"/>
          </a:xfrm>
          <a:custGeom>
            <a:avLst/>
            <a:gdLst/>
            <a:ahLst/>
            <a:cxnLst/>
            <a:rect l="l" t="t" r="r" b="b"/>
            <a:pathLst>
              <a:path w="4965068" h="4114800">
                <a:moveTo>
                  <a:pt x="0" y="0"/>
                </a:moveTo>
                <a:lnTo>
                  <a:pt x="4965068" y="0"/>
                </a:lnTo>
                <a:lnTo>
                  <a:pt x="4965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01163" y="8639008"/>
            <a:ext cx="4716103" cy="4114800"/>
          </a:xfrm>
          <a:custGeom>
            <a:avLst/>
            <a:gdLst/>
            <a:ahLst/>
            <a:cxnLst/>
            <a:rect l="l" t="t" r="r" b="b"/>
            <a:pathLst>
              <a:path w="4716103" h="4114800">
                <a:moveTo>
                  <a:pt x="0" y="0"/>
                </a:moveTo>
                <a:lnTo>
                  <a:pt x="4716103" y="0"/>
                </a:lnTo>
                <a:lnTo>
                  <a:pt x="47161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339920" y="8671973"/>
            <a:ext cx="7315200" cy="4081836"/>
          </a:xfrm>
          <a:custGeom>
            <a:avLst/>
            <a:gdLst/>
            <a:ahLst/>
            <a:cxnLst/>
            <a:rect l="l" t="t" r="r" b="b"/>
            <a:pathLst>
              <a:path w="7315200" h="4081836">
                <a:moveTo>
                  <a:pt x="0" y="0"/>
                </a:moveTo>
                <a:lnTo>
                  <a:pt x="7315200" y="0"/>
                </a:lnTo>
                <a:lnTo>
                  <a:pt x="7315200" y="4081835"/>
                </a:lnTo>
                <a:lnTo>
                  <a:pt x="0" y="4081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78338" y="-1487343"/>
            <a:ext cx="7315200" cy="2974686"/>
          </a:xfrm>
          <a:custGeom>
            <a:avLst/>
            <a:gdLst/>
            <a:ahLst/>
            <a:cxnLst/>
            <a:rect l="l" t="t" r="r" b="b"/>
            <a:pathLst>
              <a:path w="7315200" h="2974686">
                <a:moveTo>
                  <a:pt x="0" y="0"/>
                </a:moveTo>
                <a:lnTo>
                  <a:pt x="7315200" y="0"/>
                </a:lnTo>
                <a:lnTo>
                  <a:pt x="7315200" y="2974686"/>
                </a:lnTo>
                <a:lnTo>
                  <a:pt x="0" y="29746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726708" y="8802907"/>
            <a:ext cx="5229248" cy="2167761"/>
          </a:xfrm>
          <a:custGeom>
            <a:avLst/>
            <a:gdLst/>
            <a:ahLst/>
            <a:cxnLst/>
            <a:rect l="l" t="t" r="r" b="b"/>
            <a:pathLst>
              <a:path w="5229248" h="2167761">
                <a:moveTo>
                  <a:pt x="0" y="0"/>
                </a:moveTo>
                <a:lnTo>
                  <a:pt x="5229248" y="0"/>
                </a:lnTo>
                <a:lnTo>
                  <a:pt x="5229248" y="2167761"/>
                </a:lnTo>
                <a:lnTo>
                  <a:pt x="0" y="21677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109069" y="-2425955"/>
            <a:ext cx="4034931" cy="3308644"/>
          </a:xfrm>
          <a:custGeom>
            <a:avLst/>
            <a:gdLst/>
            <a:ahLst/>
            <a:cxnLst/>
            <a:rect l="l" t="t" r="r" b="b"/>
            <a:pathLst>
              <a:path w="4034931" h="3308644">
                <a:moveTo>
                  <a:pt x="0" y="0"/>
                </a:moveTo>
                <a:lnTo>
                  <a:pt x="4034931" y="0"/>
                </a:lnTo>
                <a:lnTo>
                  <a:pt x="4034931" y="3308644"/>
                </a:lnTo>
                <a:lnTo>
                  <a:pt x="0" y="33086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659214" y="-570057"/>
            <a:ext cx="3987615" cy="4114800"/>
          </a:xfrm>
          <a:custGeom>
            <a:avLst/>
            <a:gdLst/>
            <a:ahLst/>
            <a:cxnLst/>
            <a:rect l="l" t="t" r="r" b="b"/>
            <a:pathLst>
              <a:path w="3987615" h="4114800">
                <a:moveTo>
                  <a:pt x="0" y="0"/>
                </a:moveTo>
                <a:lnTo>
                  <a:pt x="3987616" y="0"/>
                </a:lnTo>
                <a:lnTo>
                  <a:pt x="3987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685399" y="9258300"/>
            <a:ext cx="3331190" cy="2870880"/>
          </a:xfrm>
          <a:custGeom>
            <a:avLst/>
            <a:gdLst/>
            <a:ahLst/>
            <a:cxnLst/>
            <a:rect l="l" t="t" r="r" b="b"/>
            <a:pathLst>
              <a:path w="3331190" h="2870880">
                <a:moveTo>
                  <a:pt x="0" y="0"/>
                </a:moveTo>
                <a:lnTo>
                  <a:pt x="3331190" y="0"/>
                </a:lnTo>
                <a:lnTo>
                  <a:pt x="3331190" y="2870880"/>
                </a:lnTo>
                <a:lnTo>
                  <a:pt x="0" y="287088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51308" y="3345137"/>
            <a:ext cx="7892692" cy="2585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84"/>
              </a:lnSpc>
            </a:pPr>
            <a:r>
              <a:rPr lang="en-US" sz="9600" spc="-259">
                <a:solidFill>
                  <a:srgbClr val="4C81CB"/>
                </a:solidFill>
                <a:latin typeface="Archivo Black"/>
                <a:ea typeface="Archivo Black"/>
                <a:cs typeface="Archivo Black"/>
                <a:sym typeface="Archivo Black"/>
              </a:rP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454</Words>
  <Application>Microsoft Office PowerPoint</Application>
  <PresentationFormat>Custom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Montserrat Bold</vt:lpstr>
      <vt:lpstr>Archivo Black</vt:lpstr>
      <vt:lpstr>Arial</vt:lpstr>
      <vt:lpstr>Montserrat</vt:lpstr>
      <vt:lpstr>Calibri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Green Illustrated Environmental Sustainability Presentation</dc:title>
  <dc:creator>manvi bamal</dc:creator>
  <cp:lastModifiedBy>My Laptop</cp:lastModifiedBy>
  <cp:revision>5</cp:revision>
  <dcterms:created xsi:type="dcterms:W3CDTF">2006-08-16T00:00:00Z</dcterms:created>
  <dcterms:modified xsi:type="dcterms:W3CDTF">2025-04-29T05:38:09Z</dcterms:modified>
  <dc:identifier>DAGl8idgKVw</dc:identifier>
</cp:coreProperties>
</file>